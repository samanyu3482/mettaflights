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grandir Bold" pitchFamily="2" charset="77"/>
      <p:regular r:id="rId8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nva Sans" panose="020B0503030501040103" pitchFamily="34" charset="0"/>
      <p:regular r:id="rId14"/>
    </p:embeddedFont>
    <p:embeddedFont>
      <p:font typeface="Canva Sans Bold" panose="020B0803030501040103" pitchFamily="34" charset="0"/>
      <p:regular r:id="rId15"/>
      <p:bold r:id="rId16"/>
    </p:embeddedFont>
    <p:embeddedFont>
      <p:font typeface="Canva Sans Medium" panose="020B0603030501040103" pitchFamily="34" charset="0"/>
      <p:regular r:id="rId17"/>
    </p:embeddedFont>
    <p:embeddedFont>
      <p:font typeface="Lexend Deca" pitchFamily="2" charset="77"/>
      <p:regular r:id="rId18"/>
    </p:embeddedFont>
    <p:embeddedFont>
      <p:font typeface="Quicksand Bold" pitchFamily="2" charset="7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57" autoAdjust="0"/>
  </p:normalViewPr>
  <p:slideViewPr>
    <p:cSldViewPr>
      <p:cViewPr varScale="1">
        <p:scale>
          <a:sx n="83" d="100"/>
          <a:sy n="83" d="100"/>
        </p:scale>
        <p:origin x="22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66405" y="7422290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99053" y="-637047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454239" y="6638823"/>
            <a:ext cx="2805061" cy="2805061"/>
            <a:chOff x="0" y="0"/>
            <a:chExt cx="903111" cy="9031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3111" cy="903111"/>
            </a:xfrm>
            <a:custGeom>
              <a:avLst/>
              <a:gdLst/>
              <a:ahLst/>
              <a:cxnLst/>
              <a:rect l="l" t="t" r="r" b="b"/>
              <a:pathLst>
                <a:path w="903111" h="903111">
                  <a:moveTo>
                    <a:pt x="0" y="0"/>
                  </a:moveTo>
                  <a:lnTo>
                    <a:pt x="903111" y="0"/>
                  </a:lnTo>
                  <a:lnTo>
                    <a:pt x="903111" y="903111"/>
                  </a:lnTo>
                  <a:lnTo>
                    <a:pt x="0" y="9031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903111" cy="865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891339" y="6638823"/>
            <a:ext cx="2757838" cy="2805061"/>
          </a:xfrm>
          <a:custGeom>
            <a:avLst/>
            <a:gdLst/>
            <a:ahLst/>
            <a:cxnLst/>
            <a:rect l="l" t="t" r="r" b="b"/>
            <a:pathLst>
              <a:path w="2757838" h="2805061">
                <a:moveTo>
                  <a:pt x="0" y="0"/>
                </a:moveTo>
                <a:lnTo>
                  <a:pt x="2757838" y="0"/>
                </a:lnTo>
                <a:lnTo>
                  <a:pt x="2757838" y="2805061"/>
                </a:lnTo>
                <a:lnTo>
                  <a:pt x="0" y="2805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432428" y="7617013"/>
            <a:ext cx="848682" cy="84868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3449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5045" y="2437747"/>
            <a:ext cx="7385924" cy="3272497"/>
            <a:chOff x="0" y="0"/>
            <a:chExt cx="9847898" cy="436332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23850"/>
              <a:ext cx="9847898" cy="3888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018"/>
                </a:lnSpc>
              </a:pPr>
              <a:r>
                <a:rPr lang="en-US" sz="8475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Metta Flights</a:t>
              </a:r>
            </a:p>
            <a:p>
              <a:pPr marL="0" lvl="0" indent="0" algn="l">
                <a:lnSpc>
                  <a:spcPts val="11018"/>
                </a:lnSpc>
              </a:pPr>
              <a:endParaRPr lang="en-US" sz="8475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786995"/>
              <a:ext cx="9847898" cy="576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3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0" y="1253429"/>
            <a:ext cx="13051708" cy="96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8"/>
              </a:lnSpc>
              <a:spcBef>
                <a:spcPct val="0"/>
              </a:spcBef>
            </a:pPr>
            <a:r>
              <a:rPr lang="en-US" sz="5712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FUTURE OF FLIGHT SEARCH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4020128"/>
            <a:ext cx="18288000" cy="206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3"/>
              </a:lnSpc>
            </a:pPr>
            <a:r>
              <a:rPr lang="en-US" sz="3945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 : MAKING A FLIGHT BOOKING WEBSITE BY INTEGRATING SINGULARITY NET METTA OPENCOG  </a:t>
            </a:r>
          </a:p>
          <a:p>
            <a:pPr algn="ctr">
              <a:lnSpc>
                <a:spcPts val="5523"/>
              </a:lnSpc>
            </a:pPr>
            <a:r>
              <a:rPr lang="en-US" sz="3945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FLIGHT SEARCH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0625" y="7369387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72857" y="1188672"/>
            <a:ext cx="15421654" cy="88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51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meTTa - Meta Type Talk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762885"/>
            <a:ext cx="18288000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MeTTa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is a revolutionary knowledge representation language developed by </a:t>
            </a: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OpenCog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Foundation. Think of it as a "language for AI to think" - it's designed specifically for artificial intelligence systems to represent, store, and reason about knowledge in a way that mimics human thinking.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8314" y="5932911"/>
            <a:ext cx="16594044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While traditional systems treat flights as rows in a database, MeTTa allows us to represent flights as knowledge atoms that can be reasoned about, queried, and optimized using advanced AI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66405" y="7139434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82333" y="-6319184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449076"/>
            <a:ext cx="4386027" cy="7440173"/>
            <a:chOff x="0" y="0"/>
            <a:chExt cx="1269404" cy="21533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9404" cy="2153336"/>
            </a:xfrm>
            <a:custGeom>
              <a:avLst/>
              <a:gdLst/>
              <a:ahLst/>
              <a:cxnLst/>
              <a:rect l="l" t="t" r="r" b="b"/>
              <a:pathLst>
                <a:path w="1269404" h="2153336">
                  <a:moveTo>
                    <a:pt x="0" y="0"/>
                  </a:moveTo>
                  <a:lnTo>
                    <a:pt x="1269404" y="0"/>
                  </a:lnTo>
                  <a:lnTo>
                    <a:pt x="1269404" y="2153336"/>
                  </a:lnTo>
                  <a:lnTo>
                    <a:pt x="0" y="2153336"/>
                  </a:lnTo>
                  <a:close/>
                </a:path>
              </a:pathLst>
            </a:custGeom>
            <a:solidFill>
              <a:srgbClr val="23449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269404" cy="208666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Advanced Filters:</a:t>
              </a: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Priority </a:t>
              </a: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Cost , Time,</a:t>
              </a: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Optimized, </a:t>
              </a: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price range, </a:t>
              </a: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duration, </a:t>
              </a: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airline preferences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50987" y="449076"/>
            <a:ext cx="4386027" cy="7440173"/>
            <a:chOff x="0" y="0"/>
            <a:chExt cx="1269404" cy="21533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9404" cy="2153336"/>
            </a:xfrm>
            <a:custGeom>
              <a:avLst/>
              <a:gdLst/>
              <a:ahLst/>
              <a:cxnLst/>
              <a:rect l="l" t="t" r="r" b="b"/>
              <a:pathLst>
                <a:path w="1269404" h="2153336">
                  <a:moveTo>
                    <a:pt x="0" y="0"/>
                  </a:moveTo>
                  <a:lnTo>
                    <a:pt x="1269404" y="0"/>
                  </a:lnTo>
                  <a:lnTo>
                    <a:pt x="1269404" y="2153336"/>
                  </a:lnTo>
                  <a:lnTo>
                    <a:pt x="0" y="2153336"/>
                  </a:lnTo>
                  <a:close/>
                </a:path>
              </a:pathLst>
            </a:custGeom>
            <a:solidFill>
              <a:srgbClr val="23449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66675"/>
              <a:ext cx="1269404" cy="208666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Quick Routes:</a:t>
              </a:r>
            </a:p>
            <a:p>
              <a:pPr algn="ctr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ctr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One-click popular routes</a:t>
              </a: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 </a:t>
              </a: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(JFK→LAX, EWR→ATL)</a:t>
              </a:r>
            </a:p>
            <a:p>
              <a:pPr algn="l">
                <a:lnSpc>
                  <a:spcPts val="3535"/>
                </a:lnSpc>
              </a:pPr>
              <a:endParaRPr lang="en-US" sz="350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with smart defaults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708068" y="449076"/>
            <a:ext cx="4386027" cy="7440172"/>
            <a:chOff x="0" y="0"/>
            <a:chExt cx="1269404" cy="21533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9404" cy="2153336"/>
            </a:xfrm>
            <a:custGeom>
              <a:avLst/>
              <a:gdLst/>
              <a:ahLst/>
              <a:cxnLst/>
              <a:rect l="l" t="t" r="r" b="b"/>
              <a:pathLst>
                <a:path w="1269404" h="2153336">
                  <a:moveTo>
                    <a:pt x="0" y="0"/>
                  </a:moveTo>
                  <a:lnTo>
                    <a:pt x="1269404" y="0"/>
                  </a:lnTo>
                  <a:lnTo>
                    <a:pt x="1269404" y="2153336"/>
                  </a:lnTo>
                  <a:lnTo>
                    <a:pt x="0" y="2153336"/>
                  </a:lnTo>
                  <a:close/>
                </a:path>
              </a:pathLst>
            </a:custGeom>
            <a:solidFill>
              <a:srgbClr val="2344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6675"/>
              <a:ext cx="1269404" cy="208666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535"/>
                </a:lnSpc>
              </a:pPr>
              <a:r>
                <a:rPr lang="en-US" sz="3500" dirty="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Airport Autocomplete:</a:t>
              </a:r>
            </a:p>
            <a:p>
              <a:pPr algn="ctr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ctr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ctr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ctr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 dirty="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Type codes (LAX), </a:t>
              </a:r>
            </a:p>
            <a:p>
              <a:pPr algn="l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 dirty="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cities with AI </a:t>
              </a:r>
            </a:p>
            <a:p>
              <a:pPr algn="l">
                <a:lnSpc>
                  <a:spcPts val="3535"/>
                </a:lnSpc>
              </a:pPr>
              <a:endParaRPr lang="en-US" sz="3500" dirty="0">
                <a:solidFill>
                  <a:srgbClr val="F8F6F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  <a:p>
              <a:pPr algn="l">
                <a:lnSpc>
                  <a:spcPts val="3535"/>
                </a:lnSpc>
              </a:pPr>
              <a:r>
                <a:rPr lang="en-US" sz="3500" dirty="0">
                  <a:solidFill>
                    <a:srgbClr val="F8F6F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suggestions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9837" y="4933928"/>
            <a:ext cx="2219724" cy="2257733"/>
            <a:chOff x="0" y="0"/>
            <a:chExt cx="714657" cy="7268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4657" cy="726895"/>
            </a:xfrm>
            <a:custGeom>
              <a:avLst/>
              <a:gdLst/>
              <a:ahLst/>
              <a:cxnLst/>
              <a:rect l="l" t="t" r="r" b="b"/>
              <a:pathLst>
                <a:path w="714657" h="726895">
                  <a:moveTo>
                    <a:pt x="0" y="0"/>
                  </a:moveTo>
                  <a:lnTo>
                    <a:pt x="714657" y="0"/>
                  </a:lnTo>
                  <a:lnTo>
                    <a:pt x="714657" y="726895"/>
                  </a:lnTo>
                  <a:lnTo>
                    <a:pt x="0" y="726895"/>
                  </a:lnTo>
                  <a:close/>
                </a:path>
              </a:pathLst>
            </a:custGeom>
            <a:solidFill>
              <a:srgbClr val="7B95C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714657" cy="688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379837" y="4933928"/>
            <a:ext cx="2219724" cy="2257733"/>
          </a:xfrm>
          <a:custGeom>
            <a:avLst/>
            <a:gdLst/>
            <a:ahLst/>
            <a:cxnLst/>
            <a:rect l="l" t="t" r="r" b="b"/>
            <a:pathLst>
              <a:path w="2219724" h="2257733">
                <a:moveTo>
                  <a:pt x="2219724" y="0"/>
                </a:moveTo>
                <a:lnTo>
                  <a:pt x="0" y="0"/>
                </a:lnTo>
                <a:lnTo>
                  <a:pt x="0" y="2257733"/>
                </a:lnTo>
                <a:lnTo>
                  <a:pt x="2219724" y="2257733"/>
                </a:lnTo>
                <a:lnTo>
                  <a:pt x="22197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0541" y="909649"/>
            <a:ext cx="2199020" cy="1766546"/>
          </a:xfrm>
          <a:custGeom>
            <a:avLst/>
            <a:gdLst/>
            <a:ahLst/>
            <a:cxnLst/>
            <a:rect l="l" t="t" r="r" b="b"/>
            <a:pathLst>
              <a:path w="2199020" h="1766546">
                <a:moveTo>
                  <a:pt x="0" y="0"/>
                </a:moveTo>
                <a:lnTo>
                  <a:pt x="2199020" y="0"/>
                </a:lnTo>
                <a:lnTo>
                  <a:pt x="2199020" y="1766546"/>
                </a:lnTo>
                <a:lnTo>
                  <a:pt x="0" y="1766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79837" y="2676195"/>
            <a:ext cx="2219724" cy="2257733"/>
            <a:chOff x="0" y="0"/>
            <a:chExt cx="714657" cy="7268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4657" cy="726895"/>
            </a:xfrm>
            <a:custGeom>
              <a:avLst/>
              <a:gdLst/>
              <a:ahLst/>
              <a:cxnLst/>
              <a:rect l="l" t="t" r="r" b="b"/>
              <a:pathLst>
                <a:path w="714657" h="726895">
                  <a:moveTo>
                    <a:pt x="0" y="0"/>
                  </a:moveTo>
                  <a:lnTo>
                    <a:pt x="714657" y="0"/>
                  </a:lnTo>
                  <a:lnTo>
                    <a:pt x="714657" y="726895"/>
                  </a:lnTo>
                  <a:lnTo>
                    <a:pt x="0" y="7268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714657" cy="688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554625" y="-4532822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075710" y="3380721"/>
            <a:ext cx="848682" cy="84868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3449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763062" y="962025"/>
            <a:ext cx="13868432" cy="1042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What </a:t>
            </a:r>
            <a:r>
              <a:rPr lang="en-US" sz="3399" b="1" dirty="0" err="1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MeTTa</a:t>
            </a:r>
            <a:r>
              <a:rPr lang="en-US" sz="3399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Does In Our Project?</a:t>
            </a:r>
          </a:p>
          <a:p>
            <a:pPr algn="ctr">
              <a:lnSpc>
                <a:spcPts val="4759"/>
              </a:lnSpc>
            </a:pPr>
            <a:endParaRPr lang="en-US" sz="3399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Stores 75,000+ flights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 AI knowledge format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Understands relationships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between airports and routes (flight data as knowledge atoms linked with nodes to obtain relationship) For ex   X implies Y and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 implies Z then this implies X is to Z.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Our </a:t>
            </a:r>
            <a:r>
              <a:rPr lang="en-US" sz="3399" b="1" dirty="0" err="1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MeTTa</a:t>
            </a:r>
            <a:r>
              <a:rPr lang="en-US" sz="3399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Search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In Traditional systems it is like asking a robot to find flights </a:t>
            </a: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from"JFK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to LAX" - it just matches words. </a:t>
            </a: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MeTTa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search is like asking a smart friend who knows JFK is New York, LAX is Los Angeles, and understands what you really want.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provide a base for multiple AI services to easily integrate and communicate with our system.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makes our </a:t>
            </a:r>
            <a:r>
              <a:rPr lang="en-US" sz="3399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flight search truly intelligent.</a:t>
            </a:r>
          </a:p>
          <a:p>
            <a:pPr algn="l">
              <a:lnSpc>
                <a:spcPts val="4759"/>
              </a:lnSpc>
            </a:pPr>
            <a:endParaRPr lang="en-US" sz="3399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algn="l">
              <a:lnSpc>
                <a:spcPts val="4759"/>
              </a:lnSpc>
            </a:pPr>
            <a:endParaRPr lang="en-US" sz="3399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66405" y="7139434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0924" y="-6373381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860116" y="4006323"/>
            <a:ext cx="3847258" cy="4537719"/>
            <a:chOff x="0" y="0"/>
            <a:chExt cx="718977" cy="8480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8977" cy="848010"/>
            </a:xfrm>
            <a:custGeom>
              <a:avLst/>
              <a:gdLst/>
              <a:ahLst/>
              <a:cxnLst/>
              <a:rect l="l" t="t" r="r" b="b"/>
              <a:pathLst>
                <a:path w="718977" h="848010">
                  <a:moveTo>
                    <a:pt x="239788" y="19070"/>
                  </a:moveTo>
                  <a:cubicBezTo>
                    <a:pt x="276530" y="7556"/>
                    <a:pt x="318554" y="0"/>
                    <a:pt x="359682" y="0"/>
                  </a:cubicBezTo>
                  <a:cubicBezTo>
                    <a:pt x="400812" y="0"/>
                    <a:pt x="440388" y="6476"/>
                    <a:pt x="476860" y="17990"/>
                  </a:cubicBezTo>
                  <a:cubicBezTo>
                    <a:pt x="477637" y="18350"/>
                    <a:pt x="478413" y="18350"/>
                    <a:pt x="479188" y="18710"/>
                  </a:cubicBezTo>
                  <a:cubicBezTo>
                    <a:pt x="616155" y="64765"/>
                    <a:pt x="717037" y="186379"/>
                    <a:pt x="718977" y="329284"/>
                  </a:cubicBezTo>
                  <a:lnTo>
                    <a:pt x="718977" y="848010"/>
                  </a:lnTo>
                  <a:lnTo>
                    <a:pt x="0" y="848010"/>
                  </a:lnTo>
                  <a:lnTo>
                    <a:pt x="0" y="329669"/>
                  </a:lnTo>
                  <a:cubicBezTo>
                    <a:pt x="1940" y="185660"/>
                    <a:pt x="101270" y="64045"/>
                    <a:pt x="239788" y="19070"/>
                  </a:cubicBezTo>
                  <a:close/>
                </a:path>
              </a:pathLst>
            </a:custGeom>
            <a:solidFill>
              <a:srgbClr val="23449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65100"/>
              <a:ext cx="718977" cy="682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352323" y="4641076"/>
            <a:ext cx="862843" cy="862843"/>
          </a:xfrm>
          <a:custGeom>
            <a:avLst/>
            <a:gdLst/>
            <a:ahLst/>
            <a:cxnLst/>
            <a:rect l="l" t="t" r="r" b="b"/>
            <a:pathLst>
              <a:path w="862843" h="862843">
                <a:moveTo>
                  <a:pt x="0" y="0"/>
                </a:moveTo>
                <a:lnTo>
                  <a:pt x="862843" y="0"/>
                </a:lnTo>
                <a:lnTo>
                  <a:pt x="862843" y="862843"/>
                </a:lnTo>
                <a:lnTo>
                  <a:pt x="0" y="8628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154750" y="5874805"/>
            <a:ext cx="3257989" cy="2454894"/>
            <a:chOff x="0" y="0"/>
            <a:chExt cx="4343985" cy="3273192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0"/>
              <a:ext cx="4343985" cy="755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8"/>
                </a:lnSpc>
                <a:spcBef>
                  <a:spcPct val="0"/>
                </a:spcBef>
              </a:pPr>
              <a:r>
                <a:rPr lang="en-US" sz="3265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Error Rate: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1733" y="885592"/>
              <a:ext cx="3700518" cy="238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1124" lvl="1" indent="-320562" algn="l">
                <a:lnSpc>
                  <a:spcPts val="3563"/>
                </a:lnSpc>
                <a:buFont typeface="Arial"/>
                <a:buChar char="•"/>
              </a:pPr>
              <a:r>
                <a:rPr lang="en-US" sz="296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&lt;0.1% with graceful fallback</a:t>
              </a:r>
            </a:p>
            <a:p>
              <a:pPr marL="0" lvl="0" indent="0" algn="l">
                <a:lnSpc>
                  <a:spcPts val="3563"/>
                </a:lnSpc>
                <a:spcBef>
                  <a:spcPct val="0"/>
                </a:spcBef>
              </a:pPr>
              <a:endParaRPr lang="en-US" sz="296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24138" y="546282"/>
            <a:ext cx="5862034" cy="3606641"/>
            <a:chOff x="0" y="0"/>
            <a:chExt cx="7816045" cy="4808855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0"/>
              <a:ext cx="7816045" cy="768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82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8244" y="913130"/>
              <a:ext cx="5439556" cy="3895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8622" lvl="1" indent="-344311" algn="l">
                <a:lnSpc>
                  <a:spcPts val="3827"/>
                </a:lnSpc>
                <a:buFont typeface="Arial"/>
                <a:buChar char="•"/>
              </a:pPr>
              <a:r>
                <a:rPr lang="en-US" sz="318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API Performance: 99.9% uptime across all services</a:t>
              </a:r>
            </a:p>
            <a:p>
              <a:pPr marL="0" lvl="0" indent="0" algn="l">
                <a:lnSpc>
                  <a:spcPts val="3827"/>
                </a:lnSpc>
                <a:spcBef>
                  <a:spcPct val="0"/>
                </a:spcBef>
              </a:pPr>
              <a:endParaRPr lang="en-US" sz="318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803266" y="698579"/>
            <a:ext cx="1831664" cy="2717193"/>
          </a:xfrm>
          <a:custGeom>
            <a:avLst/>
            <a:gdLst/>
            <a:ahLst/>
            <a:cxnLst/>
            <a:rect l="l" t="t" r="r" b="b"/>
            <a:pathLst>
              <a:path w="1831664" h="2717193">
                <a:moveTo>
                  <a:pt x="0" y="0"/>
                </a:moveTo>
                <a:lnTo>
                  <a:pt x="1831665" y="0"/>
                </a:lnTo>
                <a:lnTo>
                  <a:pt x="1831665" y="2717194"/>
                </a:lnTo>
                <a:lnTo>
                  <a:pt x="0" y="27171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06672" y="4006323"/>
            <a:ext cx="3847258" cy="4537719"/>
            <a:chOff x="0" y="0"/>
            <a:chExt cx="718977" cy="8480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8977" cy="848010"/>
            </a:xfrm>
            <a:custGeom>
              <a:avLst/>
              <a:gdLst/>
              <a:ahLst/>
              <a:cxnLst/>
              <a:rect l="l" t="t" r="r" b="b"/>
              <a:pathLst>
                <a:path w="718977" h="848010">
                  <a:moveTo>
                    <a:pt x="239788" y="19070"/>
                  </a:moveTo>
                  <a:cubicBezTo>
                    <a:pt x="276530" y="7556"/>
                    <a:pt x="318554" y="0"/>
                    <a:pt x="359682" y="0"/>
                  </a:cubicBezTo>
                  <a:cubicBezTo>
                    <a:pt x="400812" y="0"/>
                    <a:pt x="440388" y="6476"/>
                    <a:pt x="476860" y="17990"/>
                  </a:cubicBezTo>
                  <a:cubicBezTo>
                    <a:pt x="477637" y="18350"/>
                    <a:pt x="478413" y="18350"/>
                    <a:pt x="479188" y="18710"/>
                  </a:cubicBezTo>
                  <a:cubicBezTo>
                    <a:pt x="616155" y="64765"/>
                    <a:pt x="717037" y="186379"/>
                    <a:pt x="718977" y="329284"/>
                  </a:cubicBezTo>
                  <a:lnTo>
                    <a:pt x="718977" y="848010"/>
                  </a:lnTo>
                  <a:lnTo>
                    <a:pt x="0" y="848010"/>
                  </a:lnTo>
                  <a:lnTo>
                    <a:pt x="0" y="329669"/>
                  </a:lnTo>
                  <a:cubicBezTo>
                    <a:pt x="1940" y="185660"/>
                    <a:pt x="101270" y="64045"/>
                    <a:pt x="239788" y="19070"/>
                  </a:cubicBezTo>
                  <a:close/>
                </a:path>
              </a:pathLst>
            </a:custGeom>
            <a:solidFill>
              <a:srgbClr val="23449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165100"/>
              <a:ext cx="718977" cy="682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2499079" y="4856786"/>
            <a:ext cx="862843" cy="431422"/>
          </a:xfrm>
          <a:custGeom>
            <a:avLst/>
            <a:gdLst/>
            <a:ahLst/>
            <a:cxnLst/>
            <a:rect l="l" t="t" r="r" b="b"/>
            <a:pathLst>
              <a:path w="862843" h="431422">
                <a:moveTo>
                  <a:pt x="0" y="0"/>
                </a:moveTo>
                <a:lnTo>
                  <a:pt x="862843" y="0"/>
                </a:lnTo>
                <a:lnTo>
                  <a:pt x="862843" y="431422"/>
                </a:lnTo>
                <a:lnTo>
                  <a:pt x="0" y="431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301506" y="5874805"/>
            <a:ext cx="3257148" cy="2101250"/>
            <a:chOff x="0" y="0"/>
            <a:chExt cx="4342864" cy="2801667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76200"/>
              <a:ext cx="4342864" cy="647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37"/>
                </a:lnSpc>
                <a:spcBef>
                  <a:spcPct val="0"/>
                </a:spcBef>
              </a:pPr>
              <a:r>
                <a:rPr lang="en-US" sz="2864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Search Response: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3934" y="807767"/>
              <a:ext cx="3834996" cy="1993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4624" lvl="1" indent="-277312" algn="l">
                <a:lnSpc>
                  <a:spcPts val="3082"/>
                </a:lnSpc>
                <a:buFont typeface="Arial"/>
                <a:buChar char="•"/>
              </a:pPr>
              <a:r>
                <a:rPr lang="en-US" sz="2568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&lt;500ms for complex queries</a:t>
              </a:r>
            </a:p>
            <a:p>
              <a:pPr marL="0" lvl="0" indent="0" algn="l">
                <a:lnSpc>
                  <a:spcPts val="2602"/>
                </a:lnSpc>
                <a:spcBef>
                  <a:spcPct val="0"/>
                </a:spcBef>
              </a:pPr>
              <a:endParaRPr lang="en-US" sz="256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001311" y="2305134"/>
            <a:ext cx="3257989" cy="3805319"/>
            <a:chOff x="0" y="0"/>
            <a:chExt cx="4343985" cy="5073759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85725"/>
              <a:ext cx="4343985" cy="64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18"/>
                </a:lnSpc>
                <a:spcBef>
                  <a:spcPct val="0"/>
                </a:spcBef>
              </a:pPr>
              <a:r>
                <a:rPr lang="en-US" sz="2765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Airport Coverage: 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013" y="797034"/>
              <a:ext cx="3447959" cy="427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6356" lvl="1" indent="-288178" algn="l">
                <a:lnSpc>
                  <a:spcPts val="3203"/>
                </a:lnSpc>
                <a:buFont typeface="Arial"/>
                <a:buChar char="•"/>
              </a:pPr>
              <a:r>
                <a:rPr lang="en-US" sz="266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103 US airports with 75,654 flights processed intelligently</a:t>
              </a:r>
            </a:p>
            <a:p>
              <a:pPr algn="l">
                <a:lnSpc>
                  <a:spcPts val="3203"/>
                </a:lnSpc>
              </a:pPr>
              <a:endParaRPr lang="en-US" sz="266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  <a:p>
              <a:pPr marL="0" lvl="0" indent="0" algn="l">
                <a:lnSpc>
                  <a:spcPts val="3203"/>
                </a:lnSpc>
              </a:pPr>
              <a:endParaRPr lang="en-US" sz="266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245063" y="813355"/>
            <a:ext cx="854381" cy="85438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34494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9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501776"/>
            <a:ext cx="16933142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3255146" y="-4733375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38200"/>
            <a:ext cx="16230600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TECH STACK 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80769" y="3889013"/>
            <a:ext cx="4107995" cy="3615088"/>
            <a:chOff x="0" y="0"/>
            <a:chExt cx="5477326" cy="4820118"/>
          </a:xfrm>
        </p:grpSpPr>
        <p:sp>
          <p:nvSpPr>
            <p:cNvPr id="6" name="TextBox 6"/>
            <p:cNvSpPr txBox="1"/>
            <p:nvPr/>
          </p:nvSpPr>
          <p:spPr>
            <a:xfrm>
              <a:off x="0" y="-114300"/>
              <a:ext cx="5477326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FRONT END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85869"/>
              <a:ext cx="5477326" cy="3934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Next.js 14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TypeScript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Tailwind CSS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Shadcn/ui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React hooks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 lang="en-US" sz="279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28175" y="3836018"/>
            <a:ext cx="4107995" cy="3615088"/>
            <a:chOff x="0" y="0"/>
            <a:chExt cx="5477326" cy="482011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14300"/>
              <a:ext cx="5477326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BACKEND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85869"/>
              <a:ext cx="5477326" cy="3934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FastAPI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Python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JWT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SQLite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SQLAlchemy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 lang="en-US" sz="279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55927" y="3836018"/>
            <a:ext cx="4107995" cy="2129188"/>
            <a:chOff x="0" y="0"/>
            <a:chExt cx="5477326" cy="283891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14300"/>
              <a:ext cx="5477326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AI ENGINE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85869"/>
              <a:ext cx="5477326" cy="195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MeTTa (SingularityNet)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 lang="en-US" sz="279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 rot="5400000">
            <a:off x="1199428" y="1977907"/>
            <a:ext cx="706282" cy="1047739"/>
          </a:xfrm>
          <a:custGeom>
            <a:avLst/>
            <a:gdLst/>
            <a:ahLst/>
            <a:cxnLst/>
            <a:rect l="l" t="t" r="r" b="b"/>
            <a:pathLst>
              <a:path w="706282" h="1047739">
                <a:moveTo>
                  <a:pt x="0" y="0"/>
                </a:moveTo>
                <a:lnTo>
                  <a:pt x="706282" y="0"/>
                </a:lnTo>
                <a:lnTo>
                  <a:pt x="706282" y="1047738"/>
                </a:lnTo>
                <a:lnTo>
                  <a:pt x="0" y="1047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6902785" y="1977907"/>
            <a:ext cx="706282" cy="1047739"/>
          </a:xfrm>
          <a:custGeom>
            <a:avLst/>
            <a:gdLst/>
            <a:ahLst/>
            <a:cxnLst/>
            <a:rect l="l" t="t" r="r" b="b"/>
            <a:pathLst>
              <a:path w="706282" h="1047739">
                <a:moveTo>
                  <a:pt x="0" y="0"/>
                </a:moveTo>
                <a:lnTo>
                  <a:pt x="706283" y="0"/>
                </a:lnTo>
                <a:lnTo>
                  <a:pt x="706283" y="1047738"/>
                </a:lnTo>
                <a:lnTo>
                  <a:pt x="0" y="1047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12772565" y="1977907"/>
            <a:ext cx="706282" cy="1047739"/>
          </a:xfrm>
          <a:custGeom>
            <a:avLst/>
            <a:gdLst/>
            <a:ahLst/>
            <a:cxnLst/>
            <a:rect l="l" t="t" r="r" b="b"/>
            <a:pathLst>
              <a:path w="706282" h="1047739">
                <a:moveTo>
                  <a:pt x="0" y="0"/>
                </a:moveTo>
                <a:lnTo>
                  <a:pt x="706283" y="0"/>
                </a:lnTo>
                <a:lnTo>
                  <a:pt x="706283" y="1047738"/>
                </a:lnTo>
                <a:lnTo>
                  <a:pt x="0" y="1047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341232" y="9258300"/>
            <a:ext cx="18967729" cy="1435037"/>
            <a:chOff x="0" y="0"/>
            <a:chExt cx="4995616" cy="3779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95616" cy="377952"/>
            </a:xfrm>
            <a:custGeom>
              <a:avLst/>
              <a:gdLst/>
              <a:ahLst/>
              <a:cxnLst/>
              <a:rect l="l" t="t" r="r" b="b"/>
              <a:pathLst>
                <a:path w="4995616" h="377952">
                  <a:moveTo>
                    <a:pt x="0" y="0"/>
                  </a:moveTo>
                  <a:lnTo>
                    <a:pt x="4995616" y="0"/>
                  </a:lnTo>
                  <a:lnTo>
                    <a:pt x="4995616" y="377952"/>
                  </a:lnTo>
                  <a:lnTo>
                    <a:pt x="0" y="377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38100"/>
              <a:ext cx="4995616" cy="339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00448" y="3836018"/>
            <a:ext cx="4107995" cy="3615088"/>
            <a:chOff x="0" y="0"/>
            <a:chExt cx="5477326" cy="4820118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114300"/>
              <a:ext cx="5477326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  API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885869"/>
              <a:ext cx="5477326" cy="3934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Cheapest API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Fastest API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Optimized API 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Unified Booking API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Authentication API 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 lang="en-US" sz="279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333758" y="3836018"/>
            <a:ext cx="4107995" cy="3119788"/>
            <a:chOff x="0" y="0"/>
            <a:chExt cx="5477326" cy="4159718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114300"/>
              <a:ext cx="5477326" cy="914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Development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885869"/>
              <a:ext cx="5477326" cy="3273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Git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npm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pip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</a:t>
              </a:r>
            </a:p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 lang="en-US" sz="279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378</Words>
  <Application>Microsoft Macintosh PowerPoint</Application>
  <PresentationFormat>Custom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Quicksand Bold</vt:lpstr>
      <vt:lpstr>Lexend Deca</vt:lpstr>
      <vt:lpstr>Calibri</vt:lpstr>
      <vt:lpstr>Canva Sans Bold</vt:lpstr>
      <vt:lpstr>Canva Sans</vt:lpstr>
      <vt:lpstr>Canva Sans Medium</vt:lpstr>
      <vt:lpstr>Agrandir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Metta Flights  
AI Tech Futuristic  </dc:title>
  <dc:description>Presentation - Metta Flights  
AI Tech Futuristic  </dc:description>
  <cp:lastModifiedBy>Microsoft Office User</cp:lastModifiedBy>
  <cp:revision>4</cp:revision>
  <dcterms:created xsi:type="dcterms:W3CDTF">2006-08-16T00:00:00Z</dcterms:created>
  <dcterms:modified xsi:type="dcterms:W3CDTF">2025-08-03T17:55:17Z</dcterms:modified>
  <dc:identifier>DAGu7MY_oZo</dc:identifier>
</cp:coreProperties>
</file>